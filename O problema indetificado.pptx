
<file path=[Content_Types].xml><?xml version="1.0" encoding="utf-8"?>
<Types xmlns="http://schemas.openxmlformats.org/package/2006/content-types">
  <Default ContentType="application/x-fontdata" Extension="fntdata"/>
  <Default ContentType="image/jpeg" Extension="jpeg"/>
  <Default ContentType="image/png" Extension="png"/>
  <Default ContentType="application/vnd.openxmlformats-package.relationships+xml" Extension="rels"/>
  <Default ContentType="application/xml" Extension="xml"/>
  <Override ContentType="application/vnd.openxmlformats-officedocument.extended-properties+xml" PartName="/docProps/app.xml"/>
  <Override ContentType="application/vnd.openxmlformats-package.core-properties+xml" PartName="/docProps/core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11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4.xml"/>
  <Override ContentType="application/vnd.openxmlformats-officedocument.presentationml.slide+xml" PartName="/ppt/slides/slide5.xml"/>
  <Override ContentType="application/vnd.openxmlformats-officedocument.presentationml.slide+xml" PartName="/ppt/slides/slide6.xml"/>
  <Override ContentType="application/vnd.openxmlformats-officedocument.presentationml.slide+xml" PartName="/ppt/slides/slide7.xml"/>
  <Override ContentType="application/vnd.openxmlformats-officedocument.presentationml.tableStyles+xml" PartName="/ppt/tableStyles.xml"/>
  <Override ContentType="application/vnd.openxmlformats-officedocument.theme+xml" PartName="/ppt/theme/theme1.xml"/>
  <Override ContentType="application/vnd.openxmlformats-officedocument.presentationml.viewProps+xml" PartName="/ppt/viewProps.xml"/>
</Types>
</file>

<file path=_rels/.rels><?xml version="1.0" encoding="UTF-8" standalone="yes"?><Relationships xmlns="http://schemas.openxmlformats.org/package/2006/relationships"><Relationship Id="rId1" Target="ppt/presentation.xml" Type="http://schemas.openxmlformats.org/officeDocument/2006/relationships/officeDocument"/><Relationship Id="rId2" Target="docProps/thumbnail.jpeg" Type="http://schemas.openxmlformats.org/package/2006/relationships/metadata/thumbnail"/><Relationship Id="rId3" Target="docProps/core.xml" Type="http://schemas.openxmlformats.org/package/2006/relationships/metadata/core-properties"/><Relationship Id="rId4" Target="docProps/app.xml" Type="http://schemas.openxmlformats.org/officeDocument/2006/relationships/extended-properties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embedTrueTypeFonts="true">
  <p:sldMasterIdLst>
    <p:sldMasterId id="2147483648" r:id="rId1"/>
  </p:sld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</p:sldIdLst>
  <p:sldSz cx="18288000" cy="10287000"/>
  <p:notesSz cx="6858000" cy="9144000"/>
  <p:embeddedFontLst>
    <p:embeddedFont>
      <p:font typeface="Open Sans" charset="1" panose="020B0606030504020204"/>
      <p:regular r:id="rId13"/>
    </p:embeddedFont>
    <p:embeddedFont>
      <p:font typeface="Open Sans Bold" charset="1" panose="020B0806030504020204"/>
      <p:regular r:id="rId14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 autoAdjust="0"/>
    <p:restoredTop sz="94622" autoAdjust="0"/>
  </p:normalViewPr>
  <p:slideViewPr>
    <p:cSldViewPr>
      <p:cViewPr varScale="1">
        <p:scale>
          <a:sx n="74" d="100"/>
          <a:sy n="74" d="100"/>
        </p:scale>
        <p:origin x="-1092" y="-90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<Relationships xmlns="http://schemas.openxmlformats.org/package/2006/relationships"><Relationship Id="rId1" Target="slideMasters/slideMaster1.xml" Type="http://schemas.openxmlformats.org/officeDocument/2006/relationships/slideMaster"/><Relationship Id="rId10" Target="slides/slide5.xml" Type="http://schemas.openxmlformats.org/officeDocument/2006/relationships/slide"/><Relationship Id="rId11" Target="slides/slide6.xml" Type="http://schemas.openxmlformats.org/officeDocument/2006/relationships/slide"/><Relationship Id="rId12" Target="slides/slide7.xml" Type="http://schemas.openxmlformats.org/officeDocument/2006/relationships/slide"/><Relationship Id="rId13" Target="fonts/font13.fntdata" Type="http://schemas.openxmlformats.org/officeDocument/2006/relationships/font"/><Relationship Id="rId14" Target="fonts/font14.fntdata" Type="http://schemas.openxmlformats.org/officeDocument/2006/relationships/font"/><Relationship Id="rId2" Target="presProps.xml" Type="http://schemas.openxmlformats.org/officeDocument/2006/relationships/presProps"/><Relationship Id="rId3" Target="viewProps.xml" Type="http://schemas.openxmlformats.org/officeDocument/2006/relationships/viewProps"/><Relationship Id="rId4" Target="theme/theme1.xml" Type="http://schemas.openxmlformats.org/officeDocument/2006/relationships/theme"/><Relationship Id="rId5" Target="tableStyles.xml" Type="http://schemas.openxmlformats.org/officeDocument/2006/relationships/tableStyles"/><Relationship Id="rId6" Target="slides/slide1.xml" Type="http://schemas.openxmlformats.org/officeDocument/2006/relationships/slide"/><Relationship Id="rId7" Target="slides/slide2.xml" Type="http://schemas.openxmlformats.org/officeDocument/2006/relationships/slide"/><Relationship Id="rId8" Target="slides/slide3.xml" Type="http://schemas.openxmlformats.org/officeDocument/2006/relationships/slide"/><Relationship Id="rId9" Target="slides/slide4.xml" Type="http://schemas.openxmlformats.org/officeDocument/2006/relationships/slide"/></Relationships>
</file>

<file path=ppt/slideLayouts/_rels/slideLayout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2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3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4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5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6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7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8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9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0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<Relationships xmlns="http://schemas.openxmlformats.org/package/2006/relationships"><Relationship Id="rId1" Target="../slideLayouts/slideLayout1.xml" Type="http://schemas.openxmlformats.org/officeDocument/2006/relationships/slideLayout"/><Relationship Id="rId10" Target="../slideLayouts/slideLayout10.xml" Type="http://schemas.openxmlformats.org/officeDocument/2006/relationships/slideLayout"/><Relationship Id="rId11" Target="../slideLayouts/slideLayout11.xml" Type="http://schemas.openxmlformats.org/officeDocument/2006/relationships/slideLayout"/><Relationship Id="rId12" Target="../theme/theme1.xml" Type="http://schemas.openxmlformats.org/officeDocument/2006/relationships/theme"/><Relationship Id="rId2" Target="../slideLayouts/slideLayout2.xml" Type="http://schemas.openxmlformats.org/officeDocument/2006/relationships/slideLayout"/><Relationship Id="rId3" Target="../slideLayouts/slideLayout3.xml" Type="http://schemas.openxmlformats.org/officeDocument/2006/relationships/slideLayout"/><Relationship Id="rId4" Target="../slideLayouts/slideLayout4.xml" Type="http://schemas.openxmlformats.org/officeDocument/2006/relationships/slideLayout"/><Relationship Id="rId5" Target="../slideLayouts/slideLayout5.xml" Type="http://schemas.openxmlformats.org/officeDocument/2006/relationships/slideLayout"/><Relationship Id="rId6" Target="../slideLayouts/slideLayout6.xml" Type="http://schemas.openxmlformats.org/officeDocument/2006/relationships/slideLayout"/><Relationship Id="rId7" Target="../slideLayouts/slideLayout7.xml" Type="http://schemas.openxmlformats.org/officeDocument/2006/relationships/slideLayout"/><Relationship Id="rId8" Target="../slideLayouts/slideLayout8.xml" Type="http://schemas.openxmlformats.org/officeDocument/2006/relationships/slideLayout"/><Relationship Id="rId9" Target="../slideLayouts/slideLayout9.xml" Type="http://schemas.openxmlformats.org/officeDocument/2006/relationships/slideLayout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/Relationships>
</file>

<file path=ppt/slides/_rels/slide2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/Relationships>
</file>

<file path=ppt/slides/_rels/slide3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/Relationships>
</file>

<file path=ppt/slides/_rels/slide4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/Relationships>
</file>

<file path=ppt/slides/_rels/slide5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/Relationships>
</file>

<file path=ppt/slides/_rels/slide6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/Relationships>
</file>

<file path=ppt/slides/_rels/slide7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/Relationships>
</file>

<file path=ppt/slides/slide1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0D1B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3628805" y="556959"/>
            <a:ext cx="11030390" cy="7353593"/>
          </a:xfrm>
          <a:custGeom>
            <a:avLst/>
            <a:gdLst/>
            <a:ahLst/>
            <a:cxnLst/>
            <a:rect r="r" b="b" t="t" l="l"/>
            <a:pathLst>
              <a:path h="7353593" w="11030390">
                <a:moveTo>
                  <a:pt x="0" y="0"/>
                </a:moveTo>
                <a:lnTo>
                  <a:pt x="11030390" y="0"/>
                </a:lnTo>
                <a:lnTo>
                  <a:pt x="11030390" y="7353593"/>
                </a:lnTo>
                <a:lnTo>
                  <a:pt x="0" y="7353593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  <p:sp>
        <p:nvSpPr>
          <p:cNvPr name="TextBox 3" id="3"/>
          <p:cNvSpPr txBox="true"/>
          <p:nvPr/>
        </p:nvSpPr>
        <p:spPr>
          <a:xfrm rot="0">
            <a:off x="1547775" y="7396723"/>
            <a:ext cx="15192449" cy="13843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5599"/>
              </a:lnSpc>
            </a:pPr>
            <a:r>
              <a:rPr lang="en-US" sz="3999">
                <a:solidFill>
                  <a:srgbClr val="FFFFFF"/>
                </a:solidFill>
                <a:latin typeface="Open Sans"/>
                <a:ea typeface="Open Sans"/>
                <a:cs typeface="Open Sans"/>
                <a:sym typeface="Open Sans"/>
              </a:rPr>
              <a:t>O assistente de estudos de bolso criado para </a:t>
            </a:r>
            <a:r>
              <a:rPr lang="en-US" sz="3999">
                <a:solidFill>
                  <a:srgbClr val="FFDE59"/>
                </a:solidFill>
                <a:latin typeface="Open Sans"/>
                <a:ea typeface="Open Sans"/>
                <a:cs typeface="Open Sans"/>
                <a:sym typeface="Open Sans"/>
              </a:rPr>
              <a:t>desenvolver </a:t>
            </a:r>
            <a:r>
              <a:rPr lang="en-US" sz="3999">
                <a:solidFill>
                  <a:srgbClr val="FFFFFF"/>
                </a:solidFill>
                <a:latin typeface="Open Sans"/>
                <a:ea typeface="Open Sans"/>
                <a:cs typeface="Open Sans"/>
                <a:sym typeface="Open Sans"/>
              </a:rPr>
              <a:t>o controle da </a:t>
            </a:r>
            <a:r>
              <a:rPr lang="en-US" sz="3999">
                <a:solidFill>
                  <a:srgbClr val="FFDE59"/>
                </a:solidFill>
                <a:latin typeface="Open Sans"/>
                <a:ea typeface="Open Sans"/>
                <a:cs typeface="Open Sans"/>
                <a:sym typeface="Open Sans"/>
              </a:rPr>
              <a:t>rotina </a:t>
            </a:r>
            <a:r>
              <a:rPr lang="en-US" sz="3999">
                <a:solidFill>
                  <a:srgbClr val="FFFFFF"/>
                </a:solidFill>
                <a:latin typeface="Open Sans"/>
                <a:ea typeface="Open Sans"/>
                <a:cs typeface="Open Sans"/>
                <a:sym typeface="Open Sans"/>
              </a:rPr>
              <a:t>do concurseiro e acelerar a </a:t>
            </a:r>
            <a:r>
              <a:rPr lang="en-US" sz="3999">
                <a:solidFill>
                  <a:srgbClr val="FFDE59"/>
                </a:solidFill>
                <a:latin typeface="Open Sans"/>
                <a:ea typeface="Open Sans"/>
                <a:cs typeface="Open Sans"/>
                <a:sym typeface="Open Sans"/>
              </a:rPr>
              <a:t>aprovação</a:t>
            </a:r>
            <a:r>
              <a:rPr lang="en-US" sz="3999">
                <a:solidFill>
                  <a:srgbClr val="FFFFFF"/>
                </a:solidFill>
                <a:latin typeface="Open Sans"/>
                <a:ea typeface="Open Sans"/>
                <a:cs typeface="Open Sans"/>
                <a:sym typeface="Open Sans"/>
              </a:rPr>
              <a:t>.</a:t>
            </a:r>
          </a:p>
        </p:txBody>
      </p:sp>
    </p:spTree>
  </p:cSld>
  <p:clrMapOvr>
    <a:masterClrMapping/>
  </p:clrMapOvr>
</p:sld>
</file>

<file path=ppt/slides/slide2.xml><?xml version="1.0" encoding="utf-8"?>
<p:sld xmlns:p="http://schemas.openxmlformats.org/presentationml/2006/main" xmlns:a="http://schemas.openxmlformats.org/drawingml/2006/main">
  <p:cSld>
    <p:bg>
      <p:bgPr>
        <a:solidFill>
          <a:srgbClr val="0D1B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TextBox 2" id="2"/>
          <p:cNvSpPr txBox="true"/>
          <p:nvPr/>
        </p:nvSpPr>
        <p:spPr>
          <a:xfrm rot="0">
            <a:off x="1931729" y="1215046"/>
            <a:ext cx="14424542" cy="156654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2880"/>
              </a:lnSpc>
            </a:pPr>
            <a:r>
              <a:rPr lang="en-US" sz="9200" b="true">
                <a:solidFill>
                  <a:srgbClr val="FFFFFF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O </a:t>
            </a:r>
            <a:r>
              <a:rPr lang="en-US" sz="9200" b="true">
                <a:solidFill>
                  <a:srgbClr val="CC4E00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desafio </a:t>
            </a:r>
            <a:r>
              <a:rPr lang="en-US" sz="9200" b="true">
                <a:solidFill>
                  <a:srgbClr val="FFFFFF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do concurseiro</a:t>
            </a:r>
          </a:p>
        </p:txBody>
      </p:sp>
      <p:sp>
        <p:nvSpPr>
          <p:cNvPr name="TextBox 3" id="3"/>
          <p:cNvSpPr txBox="true"/>
          <p:nvPr/>
        </p:nvSpPr>
        <p:spPr>
          <a:xfrm rot="0">
            <a:off x="1028700" y="4403030"/>
            <a:ext cx="11670985" cy="197993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5319"/>
              </a:lnSpc>
            </a:pPr>
            <a:r>
              <a:rPr lang="en-US" sz="3799">
                <a:solidFill>
                  <a:srgbClr val="FFFFFF"/>
                </a:solidFill>
                <a:latin typeface="Open Sans"/>
                <a:ea typeface="Open Sans"/>
                <a:cs typeface="Open Sans"/>
                <a:sym typeface="Open Sans"/>
              </a:rPr>
              <a:t>E</a:t>
            </a:r>
            <a:r>
              <a:rPr lang="en-US" sz="3799">
                <a:solidFill>
                  <a:srgbClr val="FFFFFF"/>
                </a:solidFill>
                <a:latin typeface="Open Sans"/>
                <a:ea typeface="Open Sans"/>
                <a:cs typeface="Open Sans"/>
                <a:sym typeface="Open Sans"/>
              </a:rPr>
              <a:t>ditais extensos, acúmulo de matérias e a ausência de um </a:t>
            </a:r>
            <a:r>
              <a:rPr lang="en-US" sz="3799">
                <a:solidFill>
                  <a:srgbClr val="FFDE59"/>
                </a:solidFill>
                <a:latin typeface="Open Sans"/>
                <a:ea typeface="Open Sans"/>
                <a:cs typeface="Open Sans"/>
                <a:sym typeface="Open Sans"/>
              </a:rPr>
              <a:t>método</a:t>
            </a:r>
            <a:r>
              <a:rPr lang="en-US" b="true" sz="3799">
                <a:solidFill>
                  <a:srgbClr val="FFDE59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 </a:t>
            </a:r>
            <a:r>
              <a:rPr lang="en-US" sz="3799">
                <a:solidFill>
                  <a:srgbClr val="FFFFFF"/>
                </a:solidFill>
                <a:latin typeface="Open Sans"/>
                <a:ea typeface="Open Sans"/>
                <a:cs typeface="Open Sans"/>
                <a:sym typeface="Open Sans"/>
              </a:rPr>
              <a:t>de controle eficaz geram estagnação e ansiedade.</a:t>
            </a:r>
          </a:p>
        </p:txBody>
      </p:sp>
    </p:spTree>
  </p:cSld>
  <p:clrMapOvr>
    <a:masterClrMapping/>
  </p:clrMapOvr>
</p:sld>
</file>

<file path=ppt/slides/slide3.xml><?xml version="1.0" encoding="utf-8"?>
<p:sld xmlns:p="http://schemas.openxmlformats.org/presentationml/2006/main" xmlns:a="http://schemas.openxmlformats.org/drawingml/2006/main">
  <p:cSld>
    <p:bg>
      <p:bgPr>
        <a:solidFill>
          <a:srgbClr val="0D1B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TextBox 2" id="2"/>
          <p:cNvSpPr txBox="true"/>
          <p:nvPr/>
        </p:nvSpPr>
        <p:spPr>
          <a:xfrm rot="0">
            <a:off x="1894582" y="425175"/>
            <a:ext cx="14498836" cy="156654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2880"/>
              </a:lnSpc>
            </a:pPr>
            <a:r>
              <a:rPr lang="en-US" sz="9200" b="true">
                <a:solidFill>
                  <a:srgbClr val="FFFFFF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O </a:t>
            </a:r>
            <a:r>
              <a:rPr lang="en-US" sz="9200" b="true">
                <a:solidFill>
                  <a:srgbClr val="CC4E00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problema </a:t>
            </a:r>
            <a:r>
              <a:rPr lang="en-US" sz="9200" b="true">
                <a:solidFill>
                  <a:srgbClr val="FFFFFF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indetificado:</a:t>
            </a:r>
          </a:p>
        </p:txBody>
      </p:sp>
      <p:sp>
        <p:nvSpPr>
          <p:cNvPr name="TextBox 3" id="3"/>
          <p:cNvSpPr txBox="true"/>
          <p:nvPr/>
        </p:nvSpPr>
        <p:spPr>
          <a:xfrm rot="0">
            <a:off x="1028700" y="3005306"/>
            <a:ext cx="14369629" cy="531368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820421" indent="-410210" lvl="1">
              <a:lnSpc>
                <a:spcPts val="5320"/>
              </a:lnSpc>
              <a:buFont typeface="Arial"/>
              <a:buChar char="•"/>
            </a:pPr>
            <a:r>
              <a:rPr lang="en-US" b="true" sz="3800">
                <a:solidFill>
                  <a:srgbClr val="FFDE59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Desorganização de Rotina</a:t>
            </a:r>
            <a:r>
              <a:rPr lang="en-US" sz="3800">
                <a:solidFill>
                  <a:srgbClr val="FFDE59"/>
                </a:solidFill>
                <a:latin typeface="Open Sans"/>
                <a:ea typeface="Open Sans"/>
                <a:cs typeface="Open Sans"/>
                <a:sym typeface="Open Sans"/>
              </a:rPr>
              <a:t>:</a:t>
            </a:r>
            <a:r>
              <a:rPr lang="en-US" sz="3800">
                <a:solidFill>
                  <a:srgbClr val="FFFFFF"/>
                </a:solidFill>
                <a:latin typeface="Open Sans"/>
                <a:ea typeface="Open Sans"/>
                <a:cs typeface="Open Sans"/>
                <a:sym typeface="Open Sans"/>
              </a:rPr>
              <a:t> Dificuldade em mensurar o tempo real dedicado a cada disciplina do edital.</a:t>
            </a:r>
          </a:p>
          <a:p>
            <a:pPr algn="l">
              <a:lnSpc>
                <a:spcPts val="5320"/>
              </a:lnSpc>
            </a:pPr>
          </a:p>
          <a:p>
            <a:pPr algn="l" marL="820421" indent="-410210" lvl="1">
              <a:lnSpc>
                <a:spcPts val="5320"/>
              </a:lnSpc>
              <a:buFont typeface="Arial"/>
              <a:buChar char="•"/>
            </a:pPr>
            <a:r>
              <a:rPr lang="en-US" b="true" sz="3800">
                <a:solidFill>
                  <a:srgbClr val="FFDE59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Falta de Histórico:</a:t>
            </a:r>
            <a:r>
              <a:rPr lang="en-US" b="true" sz="3800">
                <a:solidFill>
                  <a:srgbClr val="FFFFFF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 </a:t>
            </a:r>
            <a:r>
              <a:rPr lang="en-US" sz="3800">
                <a:solidFill>
                  <a:srgbClr val="FFFFFF"/>
                </a:solidFill>
                <a:latin typeface="Open Sans"/>
                <a:ea typeface="Open Sans"/>
                <a:cs typeface="Open Sans"/>
                <a:sym typeface="Open Sans"/>
              </a:rPr>
              <a:t>Ausência de registro sobre o desempenho em questões e sessões de estudo passadas.</a:t>
            </a:r>
          </a:p>
          <a:p>
            <a:pPr algn="l">
              <a:lnSpc>
                <a:spcPts val="5320"/>
              </a:lnSpc>
            </a:pPr>
            <a:r>
              <a:rPr lang="en-US" sz="3800">
                <a:solidFill>
                  <a:srgbClr val="FFFFFF"/>
                </a:solidFill>
                <a:latin typeface="Open Sans"/>
                <a:ea typeface="Open Sans"/>
                <a:cs typeface="Open Sans"/>
                <a:sym typeface="Open Sans"/>
              </a:rPr>
              <a:t> </a:t>
            </a:r>
          </a:p>
          <a:p>
            <a:pPr algn="l" marL="820421" indent="-410210" lvl="1">
              <a:lnSpc>
                <a:spcPts val="5320"/>
              </a:lnSpc>
              <a:buFont typeface="Arial"/>
              <a:buChar char="•"/>
            </a:pPr>
            <a:r>
              <a:rPr lang="en-US" b="true" sz="3800">
                <a:solidFill>
                  <a:srgbClr val="FFDE59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A Curva do Esquecimento:</a:t>
            </a:r>
            <a:r>
              <a:rPr lang="en-US" b="true" sz="3800">
                <a:solidFill>
                  <a:srgbClr val="FFFFFF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 </a:t>
            </a:r>
            <a:r>
              <a:rPr lang="en-US" sz="3800">
                <a:solidFill>
                  <a:srgbClr val="FFFFFF"/>
                </a:solidFill>
                <a:latin typeface="Open Sans"/>
                <a:ea typeface="Open Sans"/>
                <a:cs typeface="Open Sans"/>
                <a:sym typeface="Open Sans"/>
              </a:rPr>
              <a:t>Falha constante em manter uma rotina periódica e progamada de revisões. </a:t>
            </a:r>
          </a:p>
        </p:txBody>
      </p:sp>
    </p:spTree>
  </p:cSld>
  <p:clrMapOvr>
    <a:masterClrMapping/>
  </p:clrMapOvr>
</p:sld>
</file>

<file path=ppt/slides/slide4.xml><?xml version="1.0" encoding="utf-8"?>
<p:sld xmlns:p="http://schemas.openxmlformats.org/presentationml/2006/main" xmlns:a="http://schemas.openxmlformats.org/drawingml/2006/main">
  <p:cSld>
    <p:bg>
      <p:bgPr>
        <a:solidFill>
          <a:srgbClr val="0D1B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TextBox 2" id="2"/>
          <p:cNvSpPr txBox="true"/>
          <p:nvPr/>
        </p:nvSpPr>
        <p:spPr>
          <a:xfrm rot="0">
            <a:off x="6041469" y="680268"/>
            <a:ext cx="6205061" cy="156654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2880"/>
              </a:lnSpc>
            </a:pPr>
            <a:r>
              <a:rPr lang="en-US" sz="9200" b="true">
                <a:solidFill>
                  <a:srgbClr val="FFFFFF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A </a:t>
            </a:r>
            <a:r>
              <a:rPr lang="en-US" sz="9200" b="true">
                <a:solidFill>
                  <a:srgbClr val="CC4E00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solução</a:t>
            </a:r>
            <a:r>
              <a:rPr lang="en-US" sz="9200" b="true">
                <a:solidFill>
                  <a:srgbClr val="FFFFFF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: </a:t>
            </a:r>
          </a:p>
        </p:txBody>
      </p:sp>
      <p:sp>
        <p:nvSpPr>
          <p:cNvPr name="TextBox 3" id="3"/>
          <p:cNvSpPr txBox="true"/>
          <p:nvPr/>
        </p:nvSpPr>
        <p:spPr>
          <a:xfrm rot="0">
            <a:off x="3050391" y="4115435"/>
            <a:ext cx="12187217" cy="197993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5320"/>
              </a:lnSpc>
            </a:pPr>
            <a:r>
              <a:rPr lang="en-US" sz="3800">
                <a:solidFill>
                  <a:srgbClr val="FFFFFF"/>
                </a:solidFill>
                <a:latin typeface="Open Sans"/>
                <a:ea typeface="Open Sans"/>
                <a:cs typeface="Open Sans"/>
                <a:sym typeface="Open Sans"/>
              </a:rPr>
              <a:t>Um </a:t>
            </a:r>
            <a:r>
              <a:rPr lang="en-US" sz="3800">
                <a:solidFill>
                  <a:srgbClr val="FFDE59"/>
                </a:solidFill>
                <a:latin typeface="Open Sans"/>
                <a:ea typeface="Open Sans"/>
                <a:cs typeface="Open Sans"/>
                <a:sym typeface="Open Sans"/>
              </a:rPr>
              <a:t>aplicativo mobile</a:t>
            </a:r>
            <a:r>
              <a:rPr lang="en-US" sz="3800">
                <a:solidFill>
                  <a:srgbClr val="FFFFFF"/>
                </a:solidFill>
                <a:latin typeface="Open Sans"/>
                <a:ea typeface="Open Sans"/>
                <a:cs typeface="Open Sans"/>
                <a:sym typeface="Open Sans"/>
              </a:rPr>
              <a:t> completo e intuitivo para transformar o planejamento teórico em execução prática e mensurável.</a:t>
            </a:r>
          </a:p>
        </p:txBody>
      </p:sp>
    </p:spTree>
  </p:cSld>
  <p:clrMapOvr>
    <a:masterClrMapping/>
  </p:clrMapOvr>
</p:sld>
</file>

<file path=ppt/slides/slide5.xml><?xml version="1.0" encoding="utf-8"?>
<p:sld xmlns:p="http://schemas.openxmlformats.org/presentationml/2006/main" xmlns:a="http://schemas.openxmlformats.org/drawingml/2006/main">
  <p:cSld>
    <p:bg>
      <p:bgPr>
        <a:solidFill>
          <a:srgbClr val="0D1B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TextBox 2" id="2"/>
          <p:cNvSpPr txBox="true"/>
          <p:nvPr/>
        </p:nvSpPr>
        <p:spPr>
          <a:xfrm rot="0">
            <a:off x="3529965" y="412067"/>
            <a:ext cx="11228070" cy="156654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2880"/>
              </a:lnSpc>
            </a:pPr>
            <a:r>
              <a:rPr lang="en-US" sz="9200" b="true">
                <a:solidFill>
                  <a:srgbClr val="CC4E00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Assistente </a:t>
            </a:r>
            <a:r>
              <a:rPr lang="en-US" sz="9200" b="true">
                <a:solidFill>
                  <a:srgbClr val="FFFFFF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de bolso</a:t>
            </a:r>
          </a:p>
        </p:txBody>
      </p:sp>
      <p:sp>
        <p:nvSpPr>
          <p:cNvPr name="TextBox 3" id="3"/>
          <p:cNvSpPr txBox="true"/>
          <p:nvPr/>
        </p:nvSpPr>
        <p:spPr>
          <a:xfrm rot="0">
            <a:off x="2044894" y="3537692"/>
            <a:ext cx="14198212" cy="464693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820421" indent="-410210" lvl="1">
              <a:lnSpc>
                <a:spcPts val="5320"/>
              </a:lnSpc>
              <a:buFont typeface="Arial"/>
              <a:buChar char="•"/>
            </a:pPr>
            <a:r>
              <a:rPr lang="en-US" sz="3800">
                <a:solidFill>
                  <a:srgbClr val="FFFFFF"/>
                </a:solidFill>
                <a:latin typeface="Open Sans"/>
                <a:ea typeface="Open Sans"/>
                <a:cs typeface="Open Sans"/>
                <a:sym typeface="Open Sans"/>
              </a:rPr>
              <a:t>O Bizzu Concursos foi projetado para </a:t>
            </a:r>
            <a:r>
              <a:rPr lang="en-US" sz="3800">
                <a:solidFill>
                  <a:srgbClr val="FFDE59"/>
                </a:solidFill>
                <a:latin typeface="Open Sans"/>
                <a:ea typeface="Open Sans"/>
                <a:cs typeface="Open Sans"/>
                <a:sym typeface="Open Sans"/>
              </a:rPr>
              <a:t>substituir </a:t>
            </a:r>
            <a:r>
              <a:rPr lang="en-US" sz="3800">
                <a:solidFill>
                  <a:srgbClr val="FFFFFF"/>
                </a:solidFill>
                <a:latin typeface="Open Sans"/>
                <a:ea typeface="Open Sans"/>
                <a:cs typeface="Open Sans"/>
                <a:sym typeface="Open Sans"/>
              </a:rPr>
              <a:t>planilhas complexas por uma experiência fluida no smartphone.</a:t>
            </a:r>
          </a:p>
          <a:p>
            <a:pPr algn="l">
              <a:lnSpc>
                <a:spcPts val="5320"/>
              </a:lnSpc>
            </a:pPr>
          </a:p>
          <a:p>
            <a:pPr algn="l" marL="820421" indent="-410210" lvl="1">
              <a:lnSpc>
                <a:spcPts val="5320"/>
              </a:lnSpc>
              <a:buFont typeface="Arial"/>
              <a:buChar char="•"/>
            </a:pPr>
            <a:r>
              <a:rPr lang="en-US" sz="3800">
                <a:solidFill>
                  <a:srgbClr val="FFFFFF"/>
                </a:solidFill>
                <a:latin typeface="Open Sans"/>
                <a:ea typeface="Open Sans"/>
                <a:cs typeface="Open Sans"/>
                <a:sym typeface="Open Sans"/>
              </a:rPr>
              <a:t>Com contagem precisa de tempo de estudo, registro direto de </a:t>
            </a:r>
            <a:r>
              <a:rPr lang="en-US" sz="3800">
                <a:solidFill>
                  <a:srgbClr val="FFDE59"/>
                </a:solidFill>
                <a:latin typeface="Open Sans"/>
                <a:ea typeface="Open Sans"/>
                <a:cs typeface="Open Sans"/>
                <a:sym typeface="Open Sans"/>
              </a:rPr>
              <a:t>resoluções de questões</a:t>
            </a:r>
            <a:r>
              <a:rPr lang="en-US" sz="3800">
                <a:solidFill>
                  <a:srgbClr val="FFFFFF"/>
                </a:solidFill>
                <a:latin typeface="Open Sans"/>
                <a:ea typeface="Open Sans"/>
                <a:cs typeface="Open Sans"/>
                <a:sym typeface="Open Sans"/>
              </a:rPr>
              <a:t> e métricas visuais, o candidato descobre exatamente onde precisa focar para otimizar seu </a:t>
            </a:r>
            <a:r>
              <a:rPr lang="en-US" sz="3800">
                <a:solidFill>
                  <a:srgbClr val="FFDE59"/>
                </a:solidFill>
                <a:latin typeface="Open Sans"/>
                <a:ea typeface="Open Sans"/>
                <a:cs typeface="Open Sans"/>
                <a:sym typeface="Open Sans"/>
              </a:rPr>
              <a:t>redimento </a:t>
            </a:r>
            <a:r>
              <a:rPr lang="en-US" sz="3800">
                <a:solidFill>
                  <a:srgbClr val="FFFFFF"/>
                </a:solidFill>
                <a:latin typeface="Open Sans"/>
                <a:ea typeface="Open Sans"/>
                <a:cs typeface="Open Sans"/>
                <a:sym typeface="Open Sans"/>
              </a:rPr>
              <a:t>até a prova.</a:t>
            </a:r>
          </a:p>
        </p:txBody>
      </p:sp>
    </p:spTree>
  </p:cSld>
  <p:clrMapOvr>
    <a:masterClrMapping/>
  </p:clrMapOvr>
</p:sld>
</file>

<file path=ppt/slides/slide6.xml><?xml version="1.0" encoding="utf-8"?>
<p:sld xmlns:p="http://schemas.openxmlformats.org/presentationml/2006/main" xmlns:a="http://schemas.openxmlformats.org/drawingml/2006/main">
  <p:cSld>
    <p:bg>
      <p:bgPr>
        <a:solidFill>
          <a:srgbClr val="0D1B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TextBox 2" id="2"/>
          <p:cNvSpPr txBox="true"/>
          <p:nvPr/>
        </p:nvSpPr>
        <p:spPr>
          <a:xfrm rot="0">
            <a:off x="2180451" y="380930"/>
            <a:ext cx="13927098" cy="156654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2880"/>
              </a:lnSpc>
            </a:pPr>
            <a:r>
              <a:rPr lang="en-US" sz="9200" b="true">
                <a:solidFill>
                  <a:srgbClr val="FFFFFF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Recursos </a:t>
            </a:r>
            <a:r>
              <a:rPr lang="en-US" sz="9200" b="true">
                <a:solidFill>
                  <a:srgbClr val="CC4E00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Fundamentais</a:t>
            </a:r>
          </a:p>
        </p:txBody>
      </p:sp>
      <p:sp>
        <p:nvSpPr>
          <p:cNvPr name="TextBox 3" id="3"/>
          <p:cNvSpPr txBox="true"/>
          <p:nvPr/>
        </p:nvSpPr>
        <p:spPr>
          <a:xfrm rot="0">
            <a:off x="642559" y="2306320"/>
            <a:ext cx="17002883" cy="731393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5320"/>
              </a:lnSpc>
            </a:pPr>
          </a:p>
          <a:p>
            <a:pPr algn="l" marL="820421" indent="-410210" lvl="1">
              <a:lnSpc>
                <a:spcPts val="5320"/>
              </a:lnSpc>
              <a:buFont typeface="Arial"/>
              <a:buChar char="•"/>
            </a:pPr>
            <a:r>
              <a:rPr lang="en-US" b="true" sz="3800">
                <a:solidFill>
                  <a:srgbClr val="FFDE59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Timer Integrado</a:t>
            </a:r>
            <a:r>
              <a:rPr lang="en-US" sz="3800">
                <a:solidFill>
                  <a:srgbClr val="FFDE59"/>
                </a:solidFill>
                <a:latin typeface="Open Sans"/>
                <a:ea typeface="Open Sans"/>
                <a:cs typeface="Open Sans"/>
                <a:sym typeface="Open Sans"/>
              </a:rPr>
              <a:t>:</a:t>
            </a:r>
            <a:r>
              <a:rPr lang="en-US" sz="3800">
                <a:solidFill>
                  <a:srgbClr val="FFFFFF"/>
                </a:solidFill>
                <a:latin typeface="Open Sans"/>
                <a:ea typeface="Open Sans"/>
                <a:cs typeface="Open Sans"/>
                <a:sym typeface="Open Sans"/>
              </a:rPr>
              <a:t> Um cronômetro onde o estudante inicia, pausa e finaliza suas sessões. Ele registra o tempo real dedicado a cada matéria e categorizar o tipo de estudo realizado (teórico, prático ou revisão).</a:t>
            </a:r>
          </a:p>
          <a:p>
            <a:pPr algn="l">
              <a:lnSpc>
                <a:spcPts val="5320"/>
              </a:lnSpc>
            </a:pPr>
          </a:p>
          <a:p>
            <a:pPr algn="l" marL="820421" indent="-410210" lvl="1">
              <a:lnSpc>
                <a:spcPts val="5320"/>
              </a:lnSpc>
              <a:buFont typeface="Arial"/>
              <a:buChar char="•"/>
            </a:pPr>
            <a:r>
              <a:rPr lang="en-US" b="true" sz="3800">
                <a:solidFill>
                  <a:srgbClr val="FFDE59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Gestor de Revisões Espaçadas:</a:t>
            </a:r>
            <a:r>
              <a:rPr lang="en-US" b="true" sz="3800">
                <a:solidFill>
                  <a:srgbClr val="FFFFFF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 </a:t>
            </a:r>
            <a:r>
              <a:rPr lang="en-US" sz="3800">
                <a:solidFill>
                  <a:srgbClr val="FFFFFF"/>
                </a:solidFill>
                <a:latin typeface="Open Sans"/>
                <a:ea typeface="Open Sans"/>
                <a:cs typeface="Open Sans"/>
                <a:sym typeface="Open Sans"/>
              </a:rPr>
              <a:t>Ao encerrar um estudo, o aplicativo permite que o usuário agende a revisão daquele tema (ex: para daqui a 7 dias). O app fica responsável por notificar o estudante no dia exato, ajudando a combater a curva de esquecimento.</a:t>
            </a:r>
          </a:p>
          <a:p>
            <a:pPr algn="l">
              <a:lnSpc>
                <a:spcPts val="5320"/>
              </a:lnSpc>
            </a:pPr>
          </a:p>
          <a:p>
            <a:pPr algn="l">
              <a:lnSpc>
                <a:spcPts val="5320"/>
              </a:lnSpc>
            </a:pPr>
          </a:p>
        </p:txBody>
      </p:sp>
    </p:spTree>
  </p:cSld>
  <p:clrMapOvr>
    <a:masterClrMapping/>
  </p:clrMapOvr>
</p:sld>
</file>

<file path=ppt/slides/slide7.xml><?xml version="1.0" encoding="utf-8"?>
<p:sld xmlns:p="http://schemas.openxmlformats.org/presentationml/2006/main" xmlns:a="http://schemas.openxmlformats.org/drawingml/2006/main">
  <p:cSld>
    <p:bg>
      <p:bgPr>
        <a:solidFill>
          <a:srgbClr val="0D1B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TextBox 2" id="2"/>
          <p:cNvSpPr txBox="true"/>
          <p:nvPr/>
        </p:nvSpPr>
        <p:spPr>
          <a:xfrm rot="0">
            <a:off x="1738610" y="500854"/>
            <a:ext cx="14810780" cy="156654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2880"/>
              </a:lnSpc>
            </a:pPr>
            <a:r>
              <a:rPr lang="en-US" sz="9200" b="true">
                <a:solidFill>
                  <a:srgbClr val="FFFFFF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Métricas e </a:t>
            </a:r>
            <a:r>
              <a:rPr lang="en-US" sz="9200" b="true">
                <a:solidFill>
                  <a:srgbClr val="CC4E00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Foco no Edital:</a:t>
            </a:r>
          </a:p>
        </p:txBody>
      </p:sp>
      <p:sp>
        <p:nvSpPr>
          <p:cNvPr name="TextBox 3" id="3"/>
          <p:cNvSpPr txBox="true"/>
          <p:nvPr/>
        </p:nvSpPr>
        <p:spPr>
          <a:xfrm rot="0">
            <a:off x="173105" y="3637337"/>
            <a:ext cx="18114895" cy="464693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820421" indent="-410210" lvl="1">
              <a:lnSpc>
                <a:spcPts val="5320"/>
              </a:lnSpc>
              <a:buFont typeface="Arial"/>
              <a:buChar char="•"/>
            </a:pPr>
            <a:r>
              <a:rPr lang="en-US" b="true" sz="3800">
                <a:solidFill>
                  <a:srgbClr val="FFDE59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Cadastro de Editais:</a:t>
            </a:r>
            <a:r>
              <a:rPr lang="en-US" b="true" sz="3800">
                <a:solidFill>
                  <a:srgbClr val="FFFFFF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 </a:t>
            </a:r>
            <a:r>
              <a:rPr lang="en-US" sz="3800">
                <a:solidFill>
                  <a:srgbClr val="FFFFFF"/>
                </a:solidFill>
                <a:latin typeface="Open Sans"/>
                <a:ea typeface="Open Sans"/>
                <a:cs typeface="Open Sans"/>
                <a:sym typeface="Open Sans"/>
              </a:rPr>
              <a:t>O estudante seleciona e cadastra o edital do concurso alvo, vinculando todo o seu progresso, histórico e métricas de desempenho diretamente ao objetivo final da aprovação.  </a:t>
            </a:r>
          </a:p>
          <a:p>
            <a:pPr algn="l">
              <a:lnSpc>
                <a:spcPts val="5320"/>
              </a:lnSpc>
            </a:pPr>
          </a:p>
          <a:p>
            <a:pPr algn="l" marL="820421" indent="-410210" lvl="1">
              <a:lnSpc>
                <a:spcPts val="5320"/>
              </a:lnSpc>
              <a:buFont typeface="Arial"/>
              <a:buChar char="•"/>
            </a:pPr>
            <a:r>
              <a:rPr lang="en-US" b="true" sz="3800">
                <a:solidFill>
                  <a:srgbClr val="FFDE59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Central de Materiais e Links:</a:t>
            </a:r>
            <a:r>
              <a:rPr lang="en-US" b="true" sz="3800">
                <a:solidFill>
                  <a:srgbClr val="FFFFFF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 </a:t>
            </a:r>
            <a:r>
              <a:rPr lang="en-US" sz="3800">
                <a:solidFill>
                  <a:srgbClr val="FFFFFF"/>
                </a:solidFill>
                <a:latin typeface="Open Sans"/>
                <a:ea typeface="Open Sans"/>
                <a:cs typeface="Open Sans"/>
                <a:sym typeface="Open Sans"/>
              </a:rPr>
              <a:t>Um espaço onde o usuário pode anexar e salvar os links das aulas consumidas,  mantendo todo o material de apoio organizado e de fácil acesso para consultas futuras.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Company/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xsi="http://www.w3.org/2001/XMLSchema-instance">
  <dcterms:created xsi:type="dcterms:W3CDTF">2006-08-16T00:00:00Z</dcterms:created>
  <dc:identifier>DAHQ_upWY9M</dc:identifier>
  <dcterms:modified xsi:type="dcterms:W3CDTF">2011-08-01T06:04:30Z</dcterms:modified>
  <cp:revision>1</cp:revision>
  <dc:title>O problema indetificado:</dc:title>
</cp:coreProperties>
</file>